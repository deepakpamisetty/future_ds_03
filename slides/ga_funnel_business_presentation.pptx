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01b7a5c224c02" /><Relationship Type="http://schemas.openxmlformats.org/officeDocument/2006/relationships/extended-properties" Target="/docProps/app.xml" Id="Re87a218fff8a41e1" /><Relationship Type="http://schemas.openxmlformats.org/officeDocument/2006/relationships/officeDocument" Target="/ppt/presentation.xml" Id="R81aa353344fc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7eea545364e04"/>
  </p:sldMasterIdLst>
  <p:notesMasterIdLst>
    <p:notesMasterId xmlns:r="http://schemas.openxmlformats.org/officeDocument/2006/relationships" r:id="Rb9126324d8604ec5"/>
  </p:notesMasterIdLst>
  <p:sldIdLst>
    <p:sldId xmlns:r="http://schemas.openxmlformats.org/officeDocument/2006/relationships" id="256" r:id="R73174b6c41b4431c"/>
    <p:sldId xmlns:r="http://schemas.openxmlformats.org/officeDocument/2006/relationships" id="257" r:id="R514edaea4b6141b7"/>
    <p:sldId xmlns:r="http://schemas.openxmlformats.org/officeDocument/2006/relationships" id="258" r:id="R9ee9a291867944f5"/>
    <p:sldId xmlns:r="http://schemas.openxmlformats.org/officeDocument/2006/relationships" id="259" r:id="R541218a172f84603"/>
    <p:sldId xmlns:r="http://schemas.openxmlformats.org/officeDocument/2006/relationships" id="260" r:id="Reeb4396bf46b4c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c861ad98e41a4" /><Relationship Type="http://schemas.openxmlformats.org/officeDocument/2006/relationships/slideMaster" Target="/ppt/slideMasters/slideMaster1.xml" Id="R7047eea545364e04" /><Relationship Type="http://schemas.openxmlformats.org/officeDocument/2006/relationships/notesMaster" Target="/ppt/notesMasters/notesMaster1.xml" Id="Rb9126324d8604ec5" /><Relationship Type="http://schemas.openxmlformats.org/officeDocument/2006/relationships/presProps" Target="/ppt/presProps.xml" Id="R16208ea834f64c99" /><Relationship Type="http://schemas.openxmlformats.org/officeDocument/2006/relationships/tableStyles" Target="/ppt/tableStyles.xml" Id="Ra9f6c6d3b9bd4dd8" /><Relationship Type="http://schemas.openxmlformats.org/officeDocument/2006/relationships/slide" Target="/ppt/slides/slide1.xml" Id="R73174b6c41b4431c" /><Relationship Type="http://schemas.openxmlformats.org/officeDocument/2006/relationships/slide" Target="/ppt/slides/slide2.xml" Id="R514edaea4b6141b7" /><Relationship Type="http://schemas.openxmlformats.org/officeDocument/2006/relationships/slide" Target="/ppt/slides/slide3.xml" Id="R9ee9a291867944f5" /><Relationship Type="http://schemas.openxmlformats.org/officeDocument/2006/relationships/slide" Target="/ppt/slides/slide4.xml" Id="R541218a172f84603" /><Relationship Type="http://schemas.openxmlformats.org/officeDocument/2006/relationships/slide" Target="/ppt/slides/slide5.xml" Id="Reeb4396bf46b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da5c7025b43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b5e4b5f08403c" /><Relationship Type="http://schemas.openxmlformats.org/officeDocument/2006/relationships/notesMaster" Target="/ppt/notesMasters/notesMaster1.xml" Id="R5fdf3dbaa8b644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01c9a459e44667" /><Relationship Type="http://schemas.openxmlformats.org/officeDocument/2006/relationships/notesMaster" Target="/ppt/notesMasters/notesMaster1.xml" Id="Rcf0c6ec6ef014e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7736e540b44731" /><Relationship Type="http://schemas.openxmlformats.org/officeDocument/2006/relationships/notesMaster" Target="/ppt/notesMasters/notesMaster1.xml" Id="R73b315322531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16aeb832ff49c0" /><Relationship Type="http://schemas.openxmlformats.org/officeDocument/2006/relationships/notesMaster" Target="/ppt/notesMasters/notesMaster1.xml" Id="Rcdca2f123eae45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dbfeba7e24fc6" /><Relationship Type="http://schemas.openxmlformats.org/officeDocument/2006/relationships/notesMaster" Target="/ppt/notesMasters/notesMaster1.xml" Id="R65120c693527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9b3b598ad49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934cec7e849fc" /><Relationship Type="http://schemas.openxmlformats.org/officeDocument/2006/relationships/slideLayout" Target="/ppt/slideLayouts/slideLayout1.xml" Id="R35688ee92c3641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88ee92c3641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f30d9fcb649f4" /><Relationship Type="http://schemas.openxmlformats.org/officeDocument/2006/relationships/notesSlide" Target="/ppt/notesSlides/notesSlide1.xml" Id="Rc8a038680ddb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0cf12d9ac4bb7" /><Relationship Type="http://schemas.openxmlformats.org/officeDocument/2006/relationships/notesSlide" Target="/ppt/notesSlides/notesSlide2.xml" Id="Re39e3dc62f7c4e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61eb6b5849ec" /><Relationship Type="http://schemas.openxmlformats.org/officeDocument/2006/relationships/chart" Target="/ppt/slides/charts/chart1.xml" Id="R0f55f9b2cf2142a1" /><Relationship Type="http://schemas.openxmlformats.org/officeDocument/2006/relationships/chart" Target="/ppt/slides/charts/chart2.xml" Id="R9daaf7f54f914cfd" /><Relationship Type="http://schemas.openxmlformats.org/officeDocument/2006/relationships/notesSlide" Target="/ppt/notesSlides/notesSlide3.xml" Id="Rcb89cd822474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d8925c2ea4d6b" /><Relationship Type="http://schemas.openxmlformats.org/officeDocument/2006/relationships/chart" Target="/ppt/slides/charts/chart3.xml" Id="Ree23ef2caa454b73" /><Relationship Type="http://schemas.openxmlformats.org/officeDocument/2006/relationships/notesSlide" Target="/ppt/notesSlides/notesSlide4.xml" Id="R29d536c0077441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113cabdd0474b" /><Relationship Type="http://schemas.openxmlformats.org/officeDocument/2006/relationships/notesSlide" Target="/ppt/notesSlides/notesSlide5.xml" Id="Rff0a74d0a35e42b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Visitor-to-customer (%)</c:v>
          </c:tx>
          <c:spPr>
            <a:solidFill xmlns:a="http://schemas.openxmlformats.org/drawingml/2006/main">
              <a:srgbClr val="E85D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Organic Search</c:v>
              </c:pt>
              <c:pt idx="1">
                <c:v>Paid Search</c:v>
              </c:pt>
              <c:pt idx="2">
                <c:v>Referral</c:v>
              </c:pt>
              <c:pt idx="3">
                <c:v>Direct</c:v>
              </c:pt>
              <c:pt idx="4">
                <c:v>Social</c:v>
              </c:pt>
              <c:pt idx="5">
                <c:v>Display</c:v>
              </c:pt>
            </c:strLit>
          </c:cat>
          <c:val>
            <c:numLit>
              <c:formatCode>General</c:formatCode>
              <c:ptCount val="6"/>
              <c:pt idx="0">
                <c:v>1.6267942583732056</c:v>
              </c:pt>
              <c:pt idx="1">
                <c:v>3.0018761726078798</c:v>
              </c:pt>
              <c:pt idx="2">
                <c:v>4.779411764705882</c:v>
              </c:pt>
              <c:pt idx="3">
                <c:v>1.9498607242339834</c:v>
              </c:pt>
              <c:pt idx="4">
                <c:v>1.0050251256281406</c:v>
              </c:pt>
              <c:pt idx="5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Traffic-to-lead (%)</c:v>
          </c:tx>
          <c:spPr>
            <a:solidFill xmlns:a="http://schemas.openxmlformats.org/drawingml/2006/main">
              <a:srgbClr val="1B7F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Organic Search</c:v>
              </c:pt>
              <c:pt idx="1">
                <c:v>Paid Search</c:v>
              </c:pt>
              <c:pt idx="2">
                <c:v>Referral</c:v>
              </c:pt>
              <c:pt idx="3">
                <c:v>Direct</c:v>
              </c:pt>
              <c:pt idx="4">
                <c:v>Social</c:v>
              </c:pt>
              <c:pt idx="5">
                <c:v>Display</c:v>
              </c:pt>
            </c:strLit>
          </c:cat>
          <c:val>
            <c:numLit>
              <c:formatCode>General</c:formatCode>
              <c:ptCount val="6"/>
              <c:pt idx="0">
                <c:v>66.88995215311004</c:v>
              </c:pt>
              <c:pt idx="1">
                <c:v>68.66791744840526</c:v>
              </c:pt>
              <c:pt idx="2">
                <c:v>68.38235294117648</c:v>
              </c:pt>
              <c:pt idx="3">
                <c:v>67.40947075208913</c:v>
              </c:pt>
              <c:pt idx="4">
                <c:v>67.8391959798995</c:v>
              </c:pt>
              <c:pt idx="5">
                <c:v>61.95652173913043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Leads</c:v>
          </c:tx>
          <c:spPr>
            <a:solidFill xmlns:a="http://schemas.openxmlformats.org/drawingml/2006/main">
              <a:srgbClr val="E85D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2017-08</c:v>
              </c:pt>
              <c:pt idx="1">
                <c:v>2017-09</c:v>
              </c:pt>
              <c:pt idx="2">
                <c:v>2017-10</c:v>
              </c:pt>
              <c:pt idx="3">
                <c:v>2017-11</c:v>
              </c:pt>
              <c:pt idx="4">
                <c:v>2017-12</c:v>
              </c:pt>
              <c:pt idx="5">
                <c:v>2018-01</c:v>
              </c:pt>
              <c:pt idx="6">
                <c:v>2018-02</c:v>
              </c:pt>
              <c:pt idx="7">
                <c:v>2018-03</c:v>
              </c:pt>
              <c:pt idx="8">
                <c:v>2018-04</c:v>
              </c:pt>
              <c:pt idx="9">
                <c:v>2018-05</c:v>
              </c:pt>
              <c:pt idx="10">
                <c:v>2018-06</c:v>
              </c:pt>
              <c:pt idx="11">
                <c:v>2018-07</c:v>
              </c:pt>
            </c:strLit>
          </c:cat>
          <c:val>
            <c:numLit>
              <c:formatCode>General</c:formatCode>
              <c:ptCount val="12"/>
              <c:pt idx="0">
                <c:v>138</c:v>
              </c:pt>
              <c:pt idx="1">
                <c:v>143</c:v>
              </c:pt>
              <c:pt idx="2">
                <c:v>133</c:v>
              </c:pt>
              <c:pt idx="3">
                <c:v>136</c:v>
              </c:pt>
              <c:pt idx="4">
                <c:v>145</c:v>
              </c:pt>
              <c:pt idx="5">
                <c:v>157</c:v>
              </c:pt>
              <c:pt idx="6">
                <c:v>127</c:v>
              </c:pt>
              <c:pt idx="7">
                <c:v>154</c:v>
              </c:pt>
              <c:pt idx="8">
                <c:v>129</c:v>
              </c:pt>
              <c:pt idx="9">
                <c:v>140</c:v>
              </c:pt>
              <c:pt idx="10">
                <c:v>139</c:v>
              </c:pt>
              <c:pt idx="11">
                <c:v>144</c:v>
              </c:pt>
            </c:numLit>
          </c:val>
          <c:smooth val="0"/>
        </c:ser>
        <c:ser>
          <c:idx val="1"/>
          <c:order val="1"/>
          <c:tx>
            <c:v>Customers</c:v>
          </c:tx>
          <c:spPr>
            <a:solidFill xmlns:a="http://schemas.openxmlformats.org/drawingml/2006/main">
              <a:srgbClr val="1B7F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2017-08</c:v>
              </c:pt>
              <c:pt idx="1">
                <c:v>2017-09</c:v>
              </c:pt>
              <c:pt idx="2">
                <c:v>2017-10</c:v>
              </c:pt>
              <c:pt idx="3">
                <c:v>2017-11</c:v>
              </c:pt>
              <c:pt idx="4">
                <c:v>2017-12</c:v>
              </c:pt>
              <c:pt idx="5">
                <c:v>2018-01</c:v>
              </c:pt>
              <c:pt idx="6">
                <c:v>2018-02</c:v>
              </c:pt>
              <c:pt idx="7">
                <c:v>2018-03</c:v>
              </c:pt>
              <c:pt idx="8">
                <c:v>2018-04</c:v>
              </c:pt>
              <c:pt idx="9">
                <c:v>2018-05</c:v>
              </c:pt>
              <c:pt idx="10">
                <c:v>2018-06</c:v>
              </c:pt>
              <c:pt idx="11">
                <c:v>2018-07</c:v>
              </c:pt>
            </c:strLit>
          </c:cat>
          <c:val>
            <c:numLit>
              <c:formatCode>General</c:formatCode>
              <c:ptCount val="12"/>
              <c:pt idx="0">
                <c:v>7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6</c:v>
              </c:pt>
              <c:pt idx="5">
                <c:v>6</c:v>
              </c:pt>
              <c:pt idx="6">
                <c:v>3</c:v>
              </c:pt>
              <c:pt idx="7">
                <c:v>5</c:v>
              </c:pt>
              <c:pt idx="8">
                <c:v>4</c:v>
              </c:pt>
              <c:pt idx="9">
                <c:v>1</c:v>
              </c:pt>
              <c:pt idx="10">
                <c:v>7</c:v>
              </c:pt>
              <c:pt idx="11">
                <c:v>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69273-5FB5-4BC4-8BB0-9164088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Marketing Funnel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7D623-1C58-4E47-9D67-35B1423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</a:defRPr>
            </a:pPr>
            <a:r>
              <a:rPr sz="2100" b="0">
                <a:solidFill>
                  <a:srgbClr val="5F6368"/>
                </a:solidFill>
              </a:rPr>
              <a:t>Google Analytics Customer Revenue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3877-72CA-4743-9F9A-FBFB01C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5D35"/>
                </a:solidFill>
              </a:defRPr>
            </a:pPr>
            <a:r>
              <a:rPr sz="2250" b="1">
                <a:solidFill>
                  <a:srgbClr val="E85D35"/>
                </a:solidFill>
              </a:rPr>
              <a:t>Visitors -&gt; Leads -&gt;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E3568-4C29-4A9E-B138-3AEB77FC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31242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5DF2B-9C4C-462D-8564-32A1DFD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76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Executive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A0651-E8C5-4855-834E-899AC7F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2875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Data note: Offline sample generated because Kaggle competition data was not available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A277-BEC9-400D-86A7-C032FB12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F8B34-D6DD-4566-BD59-96F1C8F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Visitors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76D6F-52CD-4990-8941-00C1A7E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2,500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19BD2-7569-42D6-978A-5FB4C55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sessions analyzed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98DDE-BB6E-48AB-ABE7-E6A84F64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07D9B-C964-4820-9AD9-5D357A9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81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Leads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3D885-3C3B-4487-8CBC-2ACFBD84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86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1,685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2B756-56C1-45DC-9313-B23609F0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434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67.4% traffic-to-lead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D94E6-EC51-4D87-A450-8D8FC6F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290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977B1-B9B7-4852-B127-67170AC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Customers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9DBC2-7379-4B90-9250-16FAC5F6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86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09E38-F9F6-4FE3-AEA4-5B2FC92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3.3% lead-to-customer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7DC95-F5B7-4A58-BB1E-42C3E08E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Main takeaway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E7640-6C78-4B8B-88E1-D43BA02A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238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largest drop-off is leads to customers, so the highest-value optimization is converting engaged leads into buyers.</a:t>
            </a:r>
          </a:p>
        </p:txBody>
      </p:sp>
    </p:spTree>
    <p:extLst>
      <p:ext uri="{BB962C8B-B14F-4D97-AF65-F5344CB8AC3E}">
        <p14:creationId xmlns:p14="http://schemas.microsoft.com/office/powerpoint/2010/main" val="204638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B0F7B-9CE2-43EF-8E8E-BDC7E2A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D35"/>
                </a:solidFill>
              </a:defRPr>
            </a:pPr>
            <a:r>
              <a:rPr sz="1050" b="1">
                <a:solidFill>
                  <a:srgbClr val="E85D35"/>
                </a:solidFill>
              </a:rPr>
              <a:t>GA CUSTOMER REVENUE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89C2E-9E64-4ABC-BF50-9FB80E5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Funnel conversion shows the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C5959-70E7-4E2C-9DD0-B6F28EF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B8DA2-4516-4617-92AC-ECE3984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00250"/>
            <a:ext cx="847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A0ED6-63BA-49AD-B9AB-874115A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14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Visitors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C9003-DB43-4BF2-B58C-A177388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4574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100.0% stage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193E8-0903-443C-8391-0FC111B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812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2,500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23881-1A99-4653-B5CD-AD944E2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714" y="3105150"/>
            <a:ext cx="686257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5"/>
          </a:solidFill>
          <a:ln xmlns:a="http://schemas.openxmlformats.org/drawingml/2006/main" w="9525">
            <a:solidFill>
              <a:srgbClr val="E85D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7678F-CD47-467A-8B25-62B69AD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314" y="3219450"/>
            <a:ext cx="54338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847A1-9DB0-482B-9EEA-29BE89E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314" y="3562350"/>
            <a:ext cx="543382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67.4% stage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D2422-1D8B-45EA-A50C-E73BF7F6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136" y="32861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1,685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01C91-23A9-4A8C-9CC4-CD51DFD9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4210050"/>
            <a:ext cx="363321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9525">
            <a:solidFill>
              <a:srgbClr val="1B7F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82D95-F14F-472E-AB53-0159EDD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324350"/>
            <a:ext cx="22044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0167D-8BC5-4BA8-B490-60E830B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667250"/>
            <a:ext cx="220446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3.3% stage 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BDC8B-AB00-4B9D-B00E-11CF113E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458" y="43910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AE9CF-ADFB-40C2-8D49-EB6852E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Drop-off from leads to customers is 96.7%, making follow-up and remarketing the priority.</a:t>
            </a:r>
          </a:p>
        </p:txBody>
      </p:sp>
    </p:spTree>
    <p:extLst>
      <p:ext uri="{BB962C8B-B14F-4D97-AF65-F5344CB8AC3E}">
        <p14:creationId xmlns:p14="http://schemas.microsoft.com/office/powerpoint/2010/main" val="1509535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52416-A139-473E-BC81-D31AC1E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D35"/>
                </a:solidFill>
              </a:defRPr>
            </a:pPr>
            <a:r>
              <a:rPr sz="1050" b="1">
                <a:solidFill>
                  <a:srgbClr val="E85D35"/>
                </a:solidFill>
              </a:rPr>
              <a:t>GA CUSTOMER REVENUE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72509-C023-49A4-93B5-314156F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Not all traffic channels produce the same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A8AE8-E024-4B61-9FA2-7CF55277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55f9b2cf2142a1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0" y="1809750"/>
          <a:ext xmlns:a="http://schemas.openxmlformats.org/drawingml/2006/main" cx="4762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aaf7f54f914cf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70E7C-3565-4694-931D-180CEF8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Quality conversion (%)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C0ADF-36E8-4867-BCB5-51D519A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Lead capture (%)</a:t>
            </a:r>
          </a:p>
        </p:txBody>
      </p:sp>
    </p:spTree>
    <p:extLst>
      <p:ext uri="{BB962C8B-B14F-4D97-AF65-F5344CB8AC3E}">
        <p14:creationId xmlns:p14="http://schemas.microsoft.com/office/powerpoint/2010/main" val="733187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88DA2-4A03-444F-9E19-7043758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D35"/>
                </a:solidFill>
              </a:defRPr>
            </a:pPr>
            <a:r>
              <a:rPr sz="1050" b="1">
                <a:solidFill>
                  <a:srgbClr val="E85D35"/>
                </a:solidFill>
              </a:rPr>
              <a:t>GA CUSTOMER REVENUE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D9A85-1CAF-4CDF-8034-953CC3CB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Monthly trend provides the operating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10B1D-C173-4009-8F41-FAF7064C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7334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23ef2caa454b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E28E6-7FCA-4808-97E7-FDEAC1C3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7DDE8-1FE8-4DDC-9C27-C3846B2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33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Operating cadence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0F9D1-FC13-4F75-A80F-98A9FEAB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Review weekly movement by channel and campaign. Treat traffic volume as a secondary metric; lead quality and customer conversion should steer budget decisions.</a:t>
            </a:r>
          </a:p>
        </p:txBody>
      </p:sp>
    </p:spTree>
    <p:extLst>
      <p:ext uri="{BB962C8B-B14F-4D97-AF65-F5344CB8AC3E}">
        <p14:creationId xmlns:p14="http://schemas.microsoft.com/office/powerpoint/2010/main" val="696685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B8D4FE-CDAB-4183-96A7-D1E6C7EC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5D35"/>
                </a:solidFill>
              </a:defRPr>
            </a:pPr>
            <a:r>
              <a:rPr sz="1050" b="1">
                <a:solidFill>
                  <a:srgbClr val="E85D35"/>
                </a:solidFill>
              </a:rPr>
              <a:t>GA CUSTOMER REVENUE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86ECF-D6E9-4570-8EB7-776C535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Recommended conversion improvement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863F9-09E4-47C1-9252-A4433F4A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38F65-55B3-4C01-83BF-DBBA8E88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85D35"/>
                </a:solidFill>
              </a:defRPr>
            </a:pPr>
            <a:r>
              <a:rPr sz="2400" b="1">
                <a:solidFill>
                  <a:srgbClr val="E85D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958F-7CF5-4202-8A42-B7AEEBDA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Prioritize Referral for qualified acquisition; it has the strongest visitor-to-customer conversion at 4.8%.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1693-5ACF-4C24-AEC6-D89100D9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9048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9C326-BC07-4CE5-9179-A2E57ED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85D35"/>
                </a:solidFill>
              </a:defRPr>
            </a:pPr>
            <a:r>
              <a:rPr sz="2400" b="1">
                <a:solidFill>
                  <a:srgbClr val="E85D3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84D35-79DD-48BF-B9BD-A4A33426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Use Paid Search landing-page and messaging patterns as a lead-capture benchmark because it converts traffic to leads at 68.7%.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1B7BE-E136-45BE-A78D-4BDD3C8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9048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5DBA3-E6FA-4C74-8F1B-282637A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85D35"/>
                </a:solidFill>
              </a:defRPr>
            </a:pPr>
            <a:r>
              <a:rPr sz="2400" b="1">
                <a:solidFill>
                  <a:srgbClr val="E85D3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4DE30-85EF-4530-9440-FB2D54B1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Audit Organic Search spend and landing pages; its conversion quality trails the portfolio at 1.6%.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B1058-935A-4F6F-8722-5EC91F83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048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23927-317E-4BCD-9C58-1ADD5F4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85D35"/>
                </a:solidFill>
              </a:defRPr>
            </a:pPr>
            <a:r>
              <a:rPr sz="2400" b="1">
                <a:solidFill>
                  <a:srgbClr val="E85D3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D1C3-BD1E-47B9-BC13-E906972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biggest bottleneck is sales qualification; add remarketing, cart recovery, and high-intent follow-up for engaged non-buyers.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8B8D4-F483-4B7E-B972-EB36D5D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9048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4D296-FC19-49C5-8065-B2BAB49C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85D35"/>
                </a:solidFill>
              </a:defRPr>
            </a:pPr>
            <a:r>
              <a:rPr sz="2400" b="1">
                <a:solidFill>
                  <a:srgbClr val="E85D3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8EE26-CC4B-45BB-9879-AF75CB8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Track the funnel weekly by channel, campaign, device, and country so budget shifts are based on lead quality rather than traffic volume alone.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815DF-4349-4014-AADE-8B2BC3C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048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C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4046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2026-06-30T06:56:15.9770000Z</dcterms:created>
  <dcterms:modified xsi:type="dcterms:W3CDTF">2026-06-30T06:56:15.9780000Z</dcterms:modified>
</coreProperties>
</file>